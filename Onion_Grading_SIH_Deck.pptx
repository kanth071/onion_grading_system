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95399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F497D"/>
                </a:solidFill>
                <a:latin typeface="Arial"/>
              </a:rPr>
              <a:t>SMART INDIA HACKATHON 2026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28600"/>
            <a:ext cx="2331720" cy="1100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Oswald"/>
              </a:rP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058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Problem Statement ID - </a:t>
            </a:r>
            <a:r>
              <a:rPr sz="1600" b="0" i="0">
                <a:solidFill>
                  <a:srgbClr val="C0392B"/>
                </a:solidFill>
                <a:latin typeface="Calibri"/>
              </a:rPr>
              <a:t>[ Insert your official SIH Problem Statement ID ]</a:t>
            </a:r>
          </a:p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Problem Statement Title - </a:t>
            </a:r>
            <a:r>
              <a:rPr sz="1600" b="1" i="0">
                <a:solidFill>
                  <a:srgbClr val="1F497D"/>
                </a:solidFill>
                <a:latin typeface="Calibri"/>
              </a:rPr>
              <a:t>AI-Based Digital Quality Grading &amp; Price Estimation System for Agricultural Produce (Onion) using Computer Vision</a:t>
            </a:r>
          </a:p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Theme - </a:t>
            </a:r>
            <a:r>
              <a:rPr sz="1600" b="1" i="0">
                <a:solidFill>
                  <a:srgbClr val="1F497D"/>
                </a:solidFill>
                <a:latin typeface="Calibri"/>
              </a:rPr>
              <a:t>Agriculture, FoodTech &amp; Rural Development</a:t>
            </a:r>
          </a:p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PS Category - </a:t>
            </a:r>
            <a:r>
              <a:rPr sz="1600" b="1" i="0">
                <a:solidFill>
                  <a:srgbClr val="1F497D"/>
                </a:solidFill>
                <a:latin typeface="Calibri"/>
              </a:rPr>
              <a:t>Software</a:t>
            </a:r>
          </a:p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Team ID - </a:t>
            </a:r>
            <a:r>
              <a:rPr sz="1600" b="0" i="0">
                <a:solidFill>
                  <a:srgbClr val="C0392B"/>
                </a:solidFill>
                <a:latin typeface="Calibri"/>
              </a:rPr>
              <a:t>[ Insert your Team ID ]</a:t>
            </a:r>
          </a:p>
          <a:p>
            <a:pPr>
              <a:spcAft>
                <a:spcPts val="1500"/>
              </a:spcAft>
            </a:pPr>
            <a:r>
              <a:rPr sz="1600" b="1" i="0">
                <a:solidFill>
                  <a:srgbClr val="1F497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Team Name - </a:t>
            </a:r>
            <a:r>
              <a:rPr sz="1600" b="0" i="0">
                <a:solidFill>
                  <a:srgbClr val="C0392B"/>
                </a:solidFill>
                <a:latin typeface="Calibri"/>
              </a:rPr>
              <a:t>[ Insert your Team Name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72200"/>
            <a:ext cx="121916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Detect  →  Classify  →  Grade  →  Price  → 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01598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PROPOSED SOLUTION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"/>
            <a:ext cx="2331720" cy="11009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[ Your Team Name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932688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555555"/>
                </a:solidFill>
                <a:latin typeface="Calibri"/>
              </a:rPr>
              <a:t>AI-Powered Onion Quality Grading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17320"/>
            <a:ext cx="3794760" cy="48006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41732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8780"/>
            <a:ext cx="3794760" cy="2514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7218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THE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29968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Manual grading at mandis depends on whichever inspector is on duty that day - two people can look at the same crate and call two different grades.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There's no record of how a grading decision was reached, so a farmer who disagrees has nothing to point to.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Most "AI grading" demos just classify the whole photo at once, which doesn't hold up once you're looking at a real mixed crate.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417320"/>
            <a:ext cx="3794760" cy="4800600"/>
          </a:xfrm>
          <a:prstGeom prst="roundRect">
            <a:avLst>
              <a:gd name="adj" fmla="val 4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41732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668780"/>
            <a:ext cx="3794760" cy="251460"/>
          </a:xfrm>
          <a:prstGeom prst="rect">
            <a:avLst/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7218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29968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Point a phone at the batch - one onion or a full crate - and the app takes it from there.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A YOLO model finds every onion in the frame and tags each one Healthy, Damaged, Rotten, or Sprouted.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That count becomes a Grade-A percentage, which a configurable rule turns into Grade 1, Grade 2, or URS.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A separate pricing rule turns the grade into an estimated Rs./quintal figure.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Every run is saved with its photos, so the grade can be checked later, not just trusted blindly.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794760" cy="4800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2F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68780"/>
            <a:ext cx="3794760" cy="251460"/>
          </a:xfrm>
          <a:prstGeom prst="rect">
            <a:avLst/>
          </a:prstGeom>
          <a:solidFill>
            <a:srgbClr val="2F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47218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WHAT'S 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29968"/>
            <a:ext cx="3246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It counts onions individually instead of guessing a single grade for the whole photo.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Grading and pricing rules live outside the model, so a threshold can change in a minute without retraining anything.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When the model isn't confident, it says so instead of quietly giving an answer anyway.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One photo or ten - the app figures out which from how many you take.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Same backend, two apps: a phone app and a plain web page that needs no install.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01598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"/>
            <a:ext cx="2331720" cy="11009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[ Your Team Name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landscap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234440"/>
            <a:ext cx="8321040" cy="38685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41080" y="1234440"/>
            <a:ext cx="3291840" cy="49834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41080" y="123444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1080" y="1485900"/>
            <a:ext cx="3291840" cy="2514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289304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THE AI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847088"/>
            <a:ext cx="274320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YOLO (Ultralytics), fine-tuned on our own onion photos rather than used off the shelf.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One pass over the image both finds and classifies every onion - no separate cropping step.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Chosen because a batch photo has many onions in it, each needing its own answer, not one label for the whole frame.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Grading and pricing are ordinary Python, on purpose - a model deciding the price would be much harder to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5852160"/>
            <a:ext cx="8321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Stack: Flutter + web app (client)  ·  FastAPI backend  ·  Ultralytics YOLO  ·  SQLite  ·  ReportLab for the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01598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"/>
            <a:ext cx="2331720" cy="11009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[ Your Team Name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F1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85900"/>
            <a:ext cx="3794760" cy="25146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Already working end to end on an ordinary phone camera - nothing exotic needed on the hardware side.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AI, grading, and pricing are three separate pieces, so each can be improved on its own.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The backend just picks up whichever trained model is newest - shipping a better model doesn't need a redeploy.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485900"/>
            <a:ext cx="3794760" cy="2514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A very crowded, overlapping crate photo is still hard for the model to fully count.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Rotten and sprouted onions are the classes we have the least real training data for.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Needs the phone to actually reach the backend - there's no offline mode yet.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Getting procurement staff to trust an AI-assisted call over their own eye takes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85900"/>
            <a:ext cx="3794760" cy="251460"/>
          </a:xfrm>
          <a:prstGeom prst="rect">
            <a:avLst/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HOW WE'RE ADDRESSING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Retraining on corrected, better-labeled data as we collect more of it.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Below a confidence threshold, the app flags the result for a human to double check instead of trusting it outright.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Simple in-app tips on how to take a usable photo.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Thresholds are editable by an admin, so grades can be tuned to match whatever spec procurement actually 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01598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"/>
            <a:ext cx="2331720" cy="11009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[ Your Team Name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85900"/>
            <a:ext cx="3794760" cy="251460"/>
          </a:xfrm>
          <a:prstGeom prst="rect">
            <a:avLst/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Takes the guesswork out of a decision that currently depends on who happens to be inspecting.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 photo-backed report gives a farmer something concrete if they want to question a grade.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Same standard applies no matter which centre or which inspector is involved.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485900"/>
            <a:ext cx="3794760" cy="2514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Fewer disputes over price because the grade is traceable back to an actual photo.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 batch gets inspected faster than a person doing it by eye, so more batches move through a centre in a day.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History of past inspections builds up into real data on quality and pricing trends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794760" cy="498348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794760" cy="502920"/>
          </a:xfrm>
          <a:prstGeom prst="roundRect">
            <a:avLst>
              <a:gd name="adj" fmla="val 10000"/>
            </a:avLst>
          </a:prstGeom>
          <a:solidFill>
            <a:srgbClr val="2F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85900"/>
            <a:ext cx="3794760" cy="251460"/>
          </a:xfrm>
          <a:prstGeom prst="rect">
            <a:avLst/>
          </a:prstGeom>
          <a:solidFill>
            <a:srgbClr val="2F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289304"/>
            <a:ext cx="3337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47088"/>
            <a:ext cx="324612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Fits the direction procurement digitisation is already heading in.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Every grading decision is logged, so it can be looked back at if a decision is ever questioned.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Rules stay editable, so the system can be brought in line with an official spec whenever one applies, rather than being locked to guesses.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9015984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"/>
            <a:ext cx="2331720" cy="11009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[ Your Team Name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7863840" cy="548640"/>
          </a:xfrm>
          <a:prstGeom prst="roundRect">
            <a:avLst>
              <a:gd name="adj" fmla="val 35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Feature-adaptive anomaly detection model for onion inspection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4173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555555"/>
                </a:solidFill>
                <a:latin typeface="Calibri"/>
              </a:rPr>
              <a:t>sciencedirect.com/science/article/pii/S2772375525002163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48256"/>
            <a:ext cx="7863840" cy="548640"/>
          </a:xfrm>
          <a:prstGeom prst="roundRect">
            <a:avLst>
              <a:gd name="adj" fmla="val 35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93976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YOLO-ODD: an improved YOLOv8s model for onion foliar disease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93976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555555"/>
                </a:solidFill>
                <a:latin typeface="Calibri"/>
              </a:rPr>
              <a:t>ncbi.nlm.nih.gov/pmc/articles/PMC12137250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24912"/>
            <a:ext cx="7863840" cy="548640"/>
          </a:xfrm>
          <a:prstGeom prst="roundRect">
            <a:avLst>
              <a:gd name="adj" fmla="val 35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2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A systematic review of deep learning-based object detection methods for crop grading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770632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555555"/>
                </a:solidFill>
                <a:latin typeface="Calibri"/>
              </a:rPr>
              <a:t>cabidigitallibrary.org/doi/10.1079/ab.2025.0060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401568"/>
            <a:ext cx="7863840" cy="548640"/>
          </a:xfrm>
          <a:prstGeom prst="roundRect">
            <a:avLst>
              <a:gd name="adj" fmla="val 35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47288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YOLOPears: multi-class pear surface defect detection in quality grading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4728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555555"/>
                </a:solidFill>
                <a:latin typeface="Calibri"/>
              </a:rPr>
              <a:t>pmc.ncbi.nlm.nih.gov/articles/PMC11873076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78224"/>
            <a:ext cx="7863840" cy="548640"/>
          </a:xfrm>
          <a:prstGeom prst="roundRect">
            <a:avLst>
              <a:gd name="adj" fmla="val 35000"/>
            </a:avLst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23944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Onion Classification using Color and Convolutional Neural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123944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555555"/>
                </a:solidFill>
                <a:latin typeface="Calibri"/>
              </a:rPr>
              <a:t>researchgate.net/publication/376202839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864608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56048"/>
            <a:ext cx="10972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00000"/>
                </a:solidFill>
                <a:latin typeface="Calibri"/>
              </a:rPr>
              <a:t>YouTube demo:  </a:t>
            </a:r>
            <a:r>
              <a:rPr sz="1150" b="0" i="0">
                <a:solidFill>
                  <a:srgbClr val="C0392B"/>
                </a:solidFill>
                <a:latin typeface="Calibri"/>
              </a:rPr>
              <a:t>[ Insert demo video link ]</a:t>
            </a:r>
          </a:p>
          <a:p>
            <a:r>
              <a:rPr sz="1150" b="1" i="0">
                <a:solidFill>
                  <a:srgbClr val="000000"/>
                </a:solidFill>
                <a:latin typeface="Calibri"/>
              </a:rPr>
              <a:t>GitHub repository:  </a:t>
            </a:r>
            <a:r>
              <a:rPr sz="1150" b="0" i="0">
                <a:solidFill>
                  <a:srgbClr val="C0392B"/>
                </a:solidFill>
                <a:latin typeface="Calibri"/>
              </a:rPr>
              <a:t>[ Insert repository link ]</a:t>
            </a:r>
          </a:p>
          <a:p>
            <a:r>
              <a:rPr sz="1150" b="1" i="0">
                <a:solidFill>
                  <a:srgbClr val="000000"/>
                </a:solidFill>
                <a:latin typeface="Calibri"/>
              </a:rPr>
              <a:t>Live app:  </a:t>
            </a:r>
            <a:r>
              <a:rPr sz="1150" b="0" i="0">
                <a:solidFill>
                  <a:srgbClr val="C0392B"/>
                </a:solidFill>
                <a:latin typeface="Calibri"/>
              </a:rPr>
              <a:t>[ Insert deployed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