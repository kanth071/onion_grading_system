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sciencedirect.com/science/article/pii/S2772375525002163" TargetMode="External"/><Relationship Id="rId4" Type="http://schemas.openxmlformats.org/officeDocument/2006/relationships/hyperlink" Target="https://www.ncbi.nlm.nih.gov/pmc/articles/PMC12137250/" TargetMode="External"/><Relationship Id="rId5" Type="http://schemas.openxmlformats.org/officeDocument/2006/relationships/hyperlink" Target="https://www.cabidigitallibrary.org/doi/10.1079/ab.2025.0060" TargetMode="External"/><Relationship Id="rId6" Type="http://schemas.openxmlformats.org/officeDocument/2006/relationships/hyperlink" Target="https://pmc.ncbi.nlm.nih.gov/articles/PMC11873076/" TargetMode="External"/><Relationship Id="rId7" Type="http://schemas.openxmlformats.org/officeDocument/2006/relationships/hyperlink" Target="https://www.researchgate.net/publication/376202839_Onion_Classification_using_Color_and_Convolutional_Neural_Network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F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953993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F497D"/>
                </a:solidFill>
                <a:latin typeface="Arial"/>
              </a:rPr>
              <a:t>SMART INDIA HACKATHON 2026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28600"/>
            <a:ext cx="2331720" cy="11009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000000"/>
                </a:solidFill>
                <a:latin typeface="Oswald"/>
              </a:rPr>
              <a:t>TITLE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1005840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600" b="1" i="0">
                <a:solidFill>
                  <a:srgbClr val="1F497D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Problem Statement ID - </a:t>
            </a:r>
            <a:r>
              <a:rPr sz="1600" b="0" i="0">
                <a:solidFill>
                  <a:srgbClr val="C0392B"/>
                </a:solidFill>
                <a:latin typeface="Calibri"/>
              </a:rPr>
              <a:t>[ Insert your official SIH Problem Statement ID ]</a:t>
            </a:r>
          </a:p>
          <a:p>
            <a:pPr>
              <a:spcAft>
                <a:spcPts val="1500"/>
              </a:spcAft>
            </a:pPr>
            <a:r>
              <a:rPr sz="1600" b="1" i="0">
                <a:solidFill>
                  <a:srgbClr val="1F497D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Problem Statement Title - </a:t>
            </a:r>
            <a:r>
              <a:rPr sz="1600" b="1" i="0">
                <a:solidFill>
                  <a:srgbClr val="1F497D"/>
                </a:solidFill>
                <a:latin typeface="Calibri"/>
              </a:rPr>
              <a:t>AI-Based Digital Quality Grading &amp; Price Estimation System for Agricultural Produce (Onion) using Computer Vision</a:t>
            </a:r>
          </a:p>
          <a:p>
            <a:pPr>
              <a:spcAft>
                <a:spcPts val="1500"/>
              </a:spcAft>
            </a:pPr>
            <a:r>
              <a:rPr sz="1600" b="1" i="0">
                <a:solidFill>
                  <a:srgbClr val="1F497D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Theme - </a:t>
            </a:r>
            <a:r>
              <a:rPr sz="1600" b="1" i="0">
                <a:solidFill>
                  <a:srgbClr val="1F497D"/>
                </a:solidFill>
                <a:latin typeface="Calibri"/>
              </a:rPr>
              <a:t>Agriculture, FoodTech &amp; Rural Development</a:t>
            </a:r>
          </a:p>
          <a:p>
            <a:pPr>
              <a:spcAft>
                <a:spcPts val="1500"/>
              </a:spcAft>
            </a:pPr>
            <a:r>
              <a:rPr sz="1600" b="1" i="0">
                <a:solidFill>
                  <a:srgbClr val="1F497D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PS Category - </a:t>
            </a:r>
            <a:r>
              <a:rPr sz="1600" b="1" i="0">
                <a:solidFill>
                  <a:srgbClr val="1F497D"/>
                </a:solidFill>
                <a:latin typeface="Calibri"/>
              </a:rPr>
              <a:t>Software</a:t>
            </a:r>
          </a:p>
          <a:p>
            <a:pPr>
              <a:spcAft>
                <a:spcPts val="1500"/>
              </a:spcAft>
            </a:pPr>
            <a:r>
              <a:rPr sz="1600" b="1" i="0">
                <a:solidFill>
                  <a:srgbClr val="1F497D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Team ID - </a:t>
            </a:r>
            <a:r>
              <a:rPr sz="1600" b="0" i="0">
                <a:solidFill>
                  <a:srgbClr val="C0392B"/>
                </a:solidFill>
                <a:latin typeface="Calibri"/>
              </a:rPr>
              <a:t>[ Insert your Team ID ]</a:t>
            </a:r>
          </a:p>
          <a:p>
            <a:pPr>
              <a:spcAft>
                <a:spcPts val="1500"/>
              </a:spcAft>
            </a:pPr>
            <a:r>
              <a:rPr sz="1600" b="1" i="0">
                <a:solidFill>
                  <a:srgbClr val="1F497D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Team Name - </a:t>
            </a:r>
            <a:r>
              <a:rPr sz="1600" b="1" i="0">
                <a:solidFill>
                  <a:srgbClr val="1F497D"/>
                </a:solidFill>
                <a:latin typeface="Calibri"/>
              </a:rPr>
              <a:t>GradeLens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172200"/>
            <a:ext cx="121916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Detect  →  Classify  →  Grade  →  Price  → 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"/>
            <a:ext cx="9015984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000000"/>
                </a:solidFill>
                <a:latin typeface="Times New Roman"/>
              </a:rPr>
              <a:t>PROPOSED SOLUTION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5720"/>
            <a:ext cx="2331720" cy="1100963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329184" y="256032"/>
            <a:ext cx="1252728" cy="80467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00000"/>
                </a:solidFill>
                <a:latin typeface="Calibri"/>
              </a:rPr>
              <a:t>GradeLens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45152" y="6355080"/>
            <a:ext cx="3200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664" y="6355080"/>
            <a:ext cx="284378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932688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1">
                <a:solidFill>
                  <a:srgbClr val="555555"/>
                </a:solidFill>
                <a:latin typeface="Calibri"/>
              </a:rPr>
              <a:t>GradeLens — AI-Powered Onion Quality Grading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417320"/>
            <a:ext cx="3794760" cy="48006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1417320"/>
            <a:ext cx="3794760" cy="502920"/>
          </a:xfrm>
          <a:prstGeom prst="roundRect">
            <a:avLst>
              <a:gd name="adj" fmla="val 10000"/>
            </a:avLst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668780"/>
            <a:ext cx="3794760" cy="25146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72184"/>
            <a:ext cx="3337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THE ISSUE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029968"/>
            <a:ext cx="324612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000000"/>
                </a:solidFill>
                <a:latin typeface="Calibri"/>
              </a:rPr>
              <a:t>Manual grading at mandis depends on whichever inspector is on duty that day - two people can look at the same crate and call two different grades.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000000"/>
                </a:solidFill>
                <a:latin typeface="Calibri"/>
              </a:rPr>
              <a:t>There's no record of how a grading decision was reached, so a farmer who disagrees has nothing to point to.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000000"/>
                </a:solidFill>
                <a:latin typeface="Calibri"/>
              </a:rPr>
              <a:t>Most "AI grading" demos classify the whole photo at once, which breaks down the moment a real crate is a mix of good and bad onions.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000000"/>
                </a:solidFill>
                <a:latin typeface="Calibri"/>
              </a:rPr>
              <a:t>Undersized onions are a genuine grading factor too, but no vision model can "see" real-world size without a reference scale in frame.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417320"/>
            <a:ext cx="3794760" cy="4800600"/>
          </a:xfrm>
          <a:prstGeom prst="roundRect">
            <a:avLst>
              <a:gd name="adj" fmla="val 4000"/>
            </a:avLst>
          </a:prstGeom>
          <a:solidFill>
            <a:srgbClr val="EA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06240" y="1417320"/>
            <a:ext cx="3794760" cy="502920"/>
          </a:xfrm>
          <a:prstGeom prst="roundRect">
            <a:avLst>
              <a:gd name="adj" fmla="val 10000"/>
            </a:avLst>
          </a:prstGeom>
          <a:solidFill>
            <a:srgbClr val="22B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668780"/>
            <a:ext cx="3794760" cy="251460"/>
          </a:xfrm>
          <a:prstGeom prst="rect">
            <a:avLst/>
          </a:prstGeom>
          <a:solidFill>
            <a:srgbClr val="22B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472184"/>
            <a:ext cx="3337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OUR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029968"/>
            <a:ext cx="324612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Point a phone at the batch - one onion or a full crate - through a camera-first app; no menu between opening it and taking the shot.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A YOLO26n model, fine-tuned on our own labelled onion photos, finds every onion in the frame and tags each one Healthy, Damaged, Rotten, or Sprouted with a confidence score.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Grade-A % = healthy ÷ total detected; a configurable rule maps it to Grade 1 (≥80%), Grade 2 (≥60%), or URS.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A separate pricing rule applies a per-grade adjustment on a base Rs./quintal figure.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An optional pixels-per-cm calibration (using a reference object in frame) turns on real undersized detection.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Every run is saved - original photos, annotated photos, and a downloadable PDF report - so the grade can be checked later, not just trusted blindly.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417320"/>
            <a:ext cx="3794760" cy="4800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38160" y="1417320"/>
            <a:ext cx="3794760" cy="502920"/>
          </a:xfrm>
          <a:prstGeom prst="roundRect">
            <a:avLst>
              <a:gd name="adj" fmla="val 10000"/>
            </a:avLst>
          </a:prstGeom>
          <a:solidFill>
            <a:srgbClr val="2F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668780"/>
            <a:ext cx="3794760" cy="251460"/>
          </a:xfrm>
          <a:prstGeom prst="rect">
            <a:avLst/>
          </a:prstGeom>
          <a:solidFill>
            <a:srgbClr val="2F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472184"/>
            <a:ext cx="3337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WHAT'S DIFFERENT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029968"/>
            <a:ext cx="324612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It counts onions individually instead of guessing a single grade for the whole photo.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Grading and pricing rules live in a settings file, outside the model - a threshold changes in a minute, with no retraining.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Below a 65% average-confidence threshold, the app flags the result for manual review instead of quietly giving an answer anyway.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One photo or ten - the app decides single vs. batch from how many photos end up in the list, not from a mode you pick first.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The backend auto-loads whichever trained model file is newest, so shipping a better model is a file drop, not a redeploy.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Same FastAPI backend, two clients: a native Flutter app and a plain installable web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"/>
            <a:ext cx="9015984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5720"/>
            <a:ext cx="2331720" cy="1100963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329184" y="256032"/>
            <a:ext cx="1252728" cy="80467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00000"/>
                </a:solidFill>
                <a:latin typeface="Calibri"/>
              </a:rPr>
              <a:t>GradeLens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45152" y="6355080"/>
            <a:ext cx="3200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664" y="6355080"/>
            <a:ext cx="284378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landscap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188720"/>
            <a:ext cx="8321040" cy="386855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188720"/>
            <a:ext cx="3291840" cy="50292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41080" y="1188720"/>
            <a:ext cx="3291840" cy="502920"/>
          </a:xfrm>
          <a:prstGeom prst="roundRect">
            <a:avLst>
              <a:gd name="adj" fmla="val 10000"/>
            </a:avLst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41080" y="1440180"/>
            <a:ext cx="3291840" cy="25146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1243584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THE AI ALGORITHM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801368"/>
            <a:ext cx="27432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3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030" b="0" i="0">
                <a:solidFill>
                  <a:srgbClr val="000000"/>
                </a:solidFill>
                <a:latin typeface="Calibri"/>
              </a:rPr>
              <a:t>YOLO26n (Ultralytics), fine-tuned across several rounds on our own labelled onion photos rather than used off the shelf.</a:t>
            </a:r>
          </a:p>
          <a:p>
            <a:pPr>
              <a:spcAft>
                <a:spcPts val="800"/>
              </a:spcAft>
            </a:pPr>
            <a:r>
              <a:rPr sz="103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030" b="0" i="0">
                <a:solidFill>
                  <a:srgbClr val="000000"/>
                </a:solidFill>
                <a:latin typeface="Calibri"/>
              </a:rPr>
              <a:t>One forward pass both finds and classifies every onion - box + class + confidence together, no separate cropping step.</a:t>
            </a:r>
          </a:p>
          <a:p>
            <a:pPr>
              <a:spcAft>
                <a:spcPts val="800"/>
              </a:spcAft>
            </a:pPr>
            <a:r>
              <a:rPr sz="103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030" b="0" i="0">
                <a:solidFill>
                  <a:srgbClr val="000000"/>
                </a:solidFill>
                <a:latin typeface="Calibri"/>
              </a:rPr>
              <a:t>Detection confidence 0.25, IoU 0.45 for box merging, both configurable per deployment.</a:t>
            </a:r>
          </a:p>
          <a:p>
            <a:pPr>
              <a:spcAft>
                <a:spcPts val="800"/>
              </a:spcAft>
            </a:pPr>
            <a:r>
              <a:rPr sz="103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030" b="0" i="0">
                <a:solidFill>
                  <a:srgbClr val="000000"/>
                </a:solidFill>
                <a:latin typeface="Calibri"/>
              </a:rPr>
              <a:t>Chosen over whole-image classification because a batch photo has many onions in it, each needing its own answer.</a:t>
            </a:r>
          </a:p>
          <a:p>
            <a:pPr>
              <a:spcAft>
                <a:spcPts val="800"/>
              </a:spcAft>
            </a:pPr>
            <a:r>
              <a:rPr sz="103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030" b="0" i="0">
                <a:solidFill>
                  <a:srgbClr val="000000"/>
                </a:solidFill>
                <a:latin typeface="Calibri"/>
              </a:rPr>
              <a:t>Grading and pricing are ordinary Python, on purpose - a model deciding the price would be much harder to audit than a rule anyone can read.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5623560"/>
            <a:ext cx="8321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00000"/>
                </a:solidFill>
                <a:latin typeface="Calibri"/>
              </a:rPr>
              <a:t>Stack:  </a:t>
            </a:r>
            <a:r>
              <a:rPr sz="1050" b="0" i="0">
                <a:solidFill>
                  <a:srgbClr val="555555"/>
                </a:solidFill>
                <a:latin typeface="Calibri"/>
              </a:rPr>
              <a:t>Flutter + web PWA (client)  ·  FastAPI + Uvicorn (backend)  ·  Ultralytics YOLO26n / PyTorch  ·  SQLite  ·  ReportLab (PDF)</a:t>
            </a:r>
          </a:p>
          <a:p>
            <a:pPr>
              <a:spcBef>
                <a:spcPts val="400"/>
              </a:spcBef>
            </a:pPr>
            <a:r>
              <a:rPr sz="1050" b="1" i="0">
                <a:solidFill>
                  <a:srgbClr val="000000"/>
                </a:solidFill>
                <a:latin typeface="Calibri"/>
              </a:rPr>
              <a:t>Measured (held-out validation set):  </a:t>
            </a:r>
            <a:r>
              <a:rPr sz="1050" b="0" i="0">
                <a:solidFill>
                  <a:srgbClr val="555555"/>
                </a:solidFill>
                <a:latin typeface="Calibri"/>
              </a:rPr>
              <a:t>damaged ~98% precision / 92% recall  ·  healthy ~72%  ·  rotten and sprouted improving each retraining round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"/>
            <a:ext cx="9015984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5720"/>
            <a:ext cx="2331720" cy="1100963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329184" y="256032"/>
            <a:ext cx="1252728" cy="80467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00000"/>
                </a:solidFill>
                <a:latin typeface="Calibri"/>
              </a:rPr>
              <a:t>GradeLens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45152" y="6355080"/>
            <a:ext cx="3200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664" y="6355080"/>
            <a:ext cx="284378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Oval 7"/>
          <p:cNvSpPr/>
          <p:nvPr/>
        </p:nvSpPr>
        <p:spPr>
          <a:xfrm>
            <a:off x="137160" y="1143000"/>
            <a:ext cx="4572000" cy="2331720"/>
          </a:xfrm>
          <a:prstGeom prst="ellipse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228600" bIns="228600"/>
          <a:lstStyle/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FEASIBILITY</a:t>
            </a:r>
          </a:p>
          <a:p>
            <a:pPr algn="ctr"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Already working end to end on an ordinary phone camera - nothing exotic on the hardware side.</a:t>
            </a:r>
          </a:p>
          <a:p>
            <a:pPr algn="ctr"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AI, grading, and pricing are three separate pieces, so each improves on its own.</a:t>
            </a:r>
          </a:p>
          <a:p>
            <a:pPr algn="ctr"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Backend auto-loads whichever trained model is newest - no redeploy to ship a better one.</a:t>
            </a:r>
          </a:p>
        </p:txBody>
      </p:sp>
      <p:sp>
        <p:nvSpPr>
          <p:cNvPr id="9" name="Oval 8"/>
          <p:cNvSpPr/>
          <p:nvPr/>
        </p:nvSpPr>
        <p:spPr>
          <a:xfrm>
            <a:off x="137160" y="3611880"/>
            <a:ext cx="4572000" cy="260604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228600" bIns="228600"/>
          <a:lstStyle/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CHALLENGES</a:t>
            </a:r>
          </a:p>
          <a:p>
            <a:pPr algn="ctr"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A very crowded, overlapping crate photo is still hard for the model to fully count.</a:t>
            </a:r>
          </a:p>
          <a:p>
            <a:pPr algn="ctr"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Rotten and sprouted are the classes with the least real training data.</a:t>
            </a:r>
          </a:p>
          <a:p>
            <a:pPr algn="ctr"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No offline mode yet - the phone has to reach the backend.</a:t>
            </a:r>
          </a:p>
          <a:p>
            <a:pPr algn="ctr"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Getting procurement staff to trust an AI-assisted call over their own eye takes time.</a:t>
            </a:r>
          </a:p>
        </p:txBody>
      </p:sp>
      <p:sp>
        <p:nvSpPr>
          <p:cNvPr id="10" name="Oval 9"/>
          <p:cNvSpPr/>
          <p:nvPr/>
        </p:nvSpPr>
        <p:spPr>
          <a:xfrm>
            <a:off x="4892040" y="1051560"/>
            <a:ext cx="6949440" cy="5257800"/>
          </a:xfrm>
          <a:prstGeom prst="ellipse">
            <a:avLst/>
          </a:prstGeom>
          <a:solidFill>
            <a:srgbClr val="22B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228600" bIns="228600"/>
          <a:lstStyle/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HOW WE'RE ADDRESSING THEM</a:t>
            </a:r>
          </a:p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Retraining on corrected, better-labelled data as we collect more of it - already gone through several rounds mid-project.</a:t>
            </a:r>
          </a:p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Below a 65% average-confidence threshold, the app flags the result for a human to double-check instead of trusting it outright.</a:t>
            </a:r>
          </a:p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Simple in-app tips on how to take a usable photo - real batch, moderate spacing between onions.</a:t>
            </a:r>
          </a:p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Grading and pricing thresholds are editable by an admin, so grades can be tuned to whatever spec procurement actually uses.</a:t>
            </a:r>
          </a:p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•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Roadmap: on-device/edge inference for procurement centres with weak connectivity.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"/>
            <a:ext cx="9015984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5720"/>
            <a:ext cx="2331720" cy="1100963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329184" y="256032"/>
            <a:ext cx="1252728" cy="80467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00000"/>
                </a:solidFill>
                <a:latin typeface="Calibri"/>
              </a:rPr>
              <a:t>GradeLens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45152" y="6355080"/>
            <a:ext cx="3200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664" y="6355080"/>
            <a:ext cx="284378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34440"/>
            <a:ext cx="3794760" cy="4983480"/>
          </a:xfrm>
          <a:prstGeom prst="roundRect">
            <a:avLst>
              <a:gd name="adj" fmla="val 4000"/>
            </a:avLst>
          </a:prstGeom>
          <a:solidFill>
            <a:srgbClr val="EA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234440"/>
            <a:ext cx="3794760" cy="502920"/>
          </a:xfrm>
          <a:prstGeom prst="roundRect">
            <a:avLst>
              <a:gd name="adj" fmla="val 10000"/>
            </a:avLst>
          </a:prstGeom>
          <a:solidFill>
            <a:srgbClr val="22B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85900"/>
            <a:ext cx="3794760" cy="251460"/>
          </a:xfrm>
          <a:prstGeom prst="rect">
            <a:avLst/>
          </a:prstGeom>
          <a:solidFill>
            <a:srgbClr val="22B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89304"/>
            <a:ext cx="3337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47088"/>
            <a:ext cx="3246120" cy="4251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Takes the guesswork out of a decision that currently depends on who happens to be inspecting.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A photo-backed PDF report gives a farmer something concrete if they want to question a grade.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Same Grade 1 / Grade 2 / URS standard applies no matter which centre or which inspector is on duty.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Confidence-gated results mean an uncertain call gets flagged for a human, not silently accepted.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234440"/>
            <a:ext cx="3794760" cy="4983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06240" y="1234440"/>
            <a:ext cx="3794760" cy="502920"/>
          </a:xfrm>
          <a:prstGeom prst="roundRect">
            <a:avLst>
              <a:gd name="adj" fmla="val 10000"/>
            </a:avLst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1485900"/>
            <a:ext cx="3794760" cy="25146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89304"/>
            <a:ext cx="3337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ECONOMIC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847088"/>
            <a:ext cx="3246120" cy="4251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Fewer disputes over price because the grade is traceable back to an actual photo and a fixed rule, not a person's memory.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A batch gets inspected in the time it takes to take a few photos, so more batches move through a centre in a day.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History of past inspections (stored per batch in SQLite) builds into real data on quality and pricing trends over time.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Base price and per-grade adjustment % are both editable, so the estimate can track a live market feed instead of a fixed number.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234440"/>
            <a:ext cx="3794760" cy="498348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38160" y="1234440"/>
            <a:ext cx="3794760" cy="502920"/>
          </a:xfrm>
          <a:prstGeom prst="roundRect">
            <a:avLst>
              <a:gd name="adj" fmla="val 10000"/>
            </a:avLst>
          </a:prstGeom>
          <a:solidFill>
            <a:srgbClr val="2F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1485900"/>
            <a:ext cx="3794760" cy="251460"/>
          </a:xfrm>
          <a:prstGeom prst="rect">
            <a:avLst/>
          </a:prstGeom>
          <a:solidFill>
            <a:srgbClr val="2F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1289304"/>
            <a:ext cx="3337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847088"/>
            <a:ext cx="3246120" cy="4251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Fits the direction procurement digitisation is already heading in.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Every grading decision is logged with its photos and the settings snapshot used at the time - reproducible for an audit.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Grading/pricing values are explicitly labelled as configurable prototype figures in the app and PDF, not asserted as official rates.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Rules stay editable, so the system can be brought in line with an official spec whenever one applies, rather than being locked to guesses.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"/>
            <a:ext cx="9015984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5720"/>
            <a:ext cx="2331720" cy="1100963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329184" y="256032"/>
            <a:ext cx="1252728" cy="80467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00000"/>
                </a:solidFill>
                <a:latin typeface="Calibri"/>
              </a:rPr>
              <a:t>GradeLens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45152" y="6355080"/>
            <a:ext cx="3200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664" y="6355080"/>
            <a:ext cx="284378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00000"/>
                </a:solidFill>
                <a:latin typeface="Calibri"/>
              </a:rPr>
              <a:t>1.  </a:t>
            </a:r>
            <a:r>
              <a:rPr sz="1300" b="1" i="0">
                <a:solidFill>
                  <a:srgbClr val="000000"/>
                </a:solidFill>
                <a:latin typeface="Calibri"/>
              </a:rPr>
              <a:t>Feature-adaptive anomaly detection model for onion inspection system</a:t>
            </a:r>
          </a:p>
          <a:p>
            <a:pPr>
              <a:spcBef>
                <a:spcPts val="100"/>
              </a:spcBef>
            </a:pPr>
            <a:r>
              <a:rPr sz="1100" b="0" i="0" u="sng">
                <a:solidFill>
                  <a:srgbClr val="0563C1"/>
                </a:solidFill>
                <a:latin typeface="Calibri"/>
                <a:hlinkClick r:id="rId3"/>
              </a:rPr>
              <a:t>https://www.sciencedirect.com/science/article/pii/S2772375525002163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1947672"/>
            <a:ext cx="11247120" cy="0"/>
          </a:xfrm>
          <a:prstGeom prst="line">
            <a:avLst/>
          </a:prstGeom>
          <a:ln w="9525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2039112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00000"/>
                </a:solidFill>
                <a:latin typeface="Calibri"/>
              </a:rPr>
              <a:t>2.  </a:t>
            </a:r>
            <a:r>
              <a:rPr sz="1300" b="1" i="0">
                <a:solidFill>
                  <a:srgbClr val="000000"/>
                </a:solidFill>
                <a:latin typeface="Calibri"/>
              </a:rPr>
              <a:t>YOLO-ODD: an improved YOLOv8s model for onion foliar disease detection</a:t>
            </a:r>
          </a:p>
          <a:p>
            <a:pPr>
              <a:spcBef>
                <a:spcPts val="100"/>
              </a:spcBef>
            </a:pPr>
            <a:r>
              <a:rPr sz="1100" b="0" i="0" u="sng">
                <a:solidFill>
                  <a:srgbClr val="0563C1"/>
                </a:solidFill>
                <a:latin typeface="Calibri"/>
                <a:hlinkClick r:id="rId4"/>
              </a:rPr>
              <a:t>https://www.ncbi.nlm.nih.gov/pmc/articles/PMC12137250/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2660903"/>
            <a:ext cx="11247120" cy="0"/>
          </a:xfrm>
          <a:prstGeom prst="line">
            <a:avLst/>
          </a:prstGeom>
          <a:ln w="9525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2752344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00000"/>
                </a:solidFill>
                <a:latin typeface="Calibri"/>
              </a:rPr>
              <a:t>3.  </a:t>
            </a:r>
            <a:r>
              <a:rPr sz="1300" b="1" i="0">
                <a:solidFill>
                  <a:srgbClr val="000000"/>
                </a:solidFill>
                <a:latin typeface="Calibri"/>
              </a:rPr>
              <a:t>A systematic review of deep learning-based object detection methods for crop grading</a:t>
            </a:r>
          </a:p>
          <a:p>
            <a:pPr>
              <a:spcBef>
                <a:spcPts val="100"/>
              </a:spcBef>
            </a:pPr>
            <a:r>
              <a:rPr sz="1100" b="0" i="0" u="sng">
                <a:solidFill>
                  <a:srgbClr val="0563C1"/>
                </a:solidFill>
                <a:latin typeface="Calibri"/>
                <a:hlinkClick r:id="rId5"/>
              </a:rPr>
              <a:t>https://www.cabidigitallibrary.org/doi/10.1079/ab.2025.0060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3374136"/>
            <a:ext cx="11247120" cy="0"/>
          </a:xfrm>
          <a:prstGeom prst="line">
            <a:avLst/>
          </a:prstGeom>
          <a:ln w="9525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465576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00000"/>
                </a:solidFill>
                <a:latin typeface="Calibri"/>
              </a:rPr>
              <a:t>4.  </a:t>
            </a:r>
            <a:r>
              <a:rPr sz="1300" b="1" i="0">
                <a:solidFill>
                  <a:srgbClr val="000000"/>
                </a:solidFill>
                <a:latin typeface="Calibri"/>
              </a:rPr>
              <a:t>YOLOPears: multi-class pear surface defect detection in quality grading systems</a:t>
            </a:r>
          </a:p>
          <a:p>
            <a:pPr>
              <a:spcBef>
                <a:spcPts val="100"/>
              </a:spcBef>
            </a:pPr>
            <a:r>
              <a:rPr sz="1100" b="0" i="0" u="sng">
                <a:solidFill>
                  <a:srgbClr val="0563C1"/>
                </a:solidFill>
                <a:latin typeface="Calibri"/>
                <a:hlinkClick r:id="rId6"/>
              </a:rPr>
              <a:t>https://pmc.ncbi.nlm.nih.gov/articles/PMC11873076/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4087368"/>
            <a:ext cx="11247120" cy="0"/>
          </a:xfrm>
          <a:prstGeom prst="line">
            <a:avLst/>
          </a:prstGeom>
          <a:ln w="9525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4178808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00000"/>
                </a:solidFill>
                <a:latin typeface="Calibri"/>
              </a:rPr>
              <a:t>5.  </a:t>
            </a:r>
            <a:r>
              <a:rPr sz="1300" b="1" i="0">
                <a:solidFill>
                  <a:srgbClr val="000000"/>
                </a:solidFill>
                <a:latin typeface="Calibri"/>
              </a:rPr>
              <a:t>Onion Classification using Color and Convolutional Neural Network</a:t>
            </a:r>
          </a:p>
          <a:p>
            <a:pPr>
              <a:spcBef>
                <a:spcPts val="100"/>
              </a:spcBef>
            </a:pPr>
            <a:r>
              <a:rPr sz="1100" b="0" i="0" u="sng">
                <a:solidFill>
                  <a:srgbClr val="0563C1"/>
                </a:solidFill>
                <a:latin typeface="Calibri"/>
                <a:hlinkClick r:id="rId7"/>
              </a:rPr>
              <a:t>https://www.researchgate.net/publication/376202839_Onion_Classification_using_Color_and_Convolutional_Neural_Network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029200"/>
            <a:ext cx="11430000" cy="105156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10972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000000"/>
                </a:solidFill>
                <a:latin typeface="Calibri"/>
              </a:rPr>
              <a:t>YouTube demo:  </a:t>
            </a:r>
            <a:r>
              <a:rPr sz="1150" b="0" i="0">
                <a:solidFill>
                  <a:srgbClr val="C0392B"/>
                </a:solidFill>
                <a:latin typeface="Calibri"/>
              </a:rPr>
              <a:t>[ Insert demo video link ]</a:t>
            </a:r>
          </a:p>
          <a:p>
            <a:r>
              <a:rPr sz="1150" b="1" i="0">
                <a:solidFill>
                  <a:srgbClr val="000000"/>
                </a:solidFill>
                <a:latin typeface="Calibri"/>
              </a:rPr>
              <a:t>GitHub repository:  </a:t>
            </a:r>
            <a:r>
              <a:rPr sz="1150" b="0" i="0">
                <a:solidFill>
                  <a:srgbClr val="C0392B"/>
                </a:solidFill>
                <a:latin typeface="Calibri"/>
              </a:rPr>
              <a:t>[ Insert repository link ]</a:t>
            </a:r>
          </a:p>
          <a:p>
            <a:r>
              <a:rPr sz="1150" b="1" i="0">
                <a:solidFill>
                  <a:srgbClr val="000000"/>
                </a:solidFill>
                <a:latin typeface="Calibri"/>
              </a:rPr>
              <a:t>Live app:  </a:t>
            </a:r>
            <a:r>
              <a:rPr sz="1150" b="0" i="0">
                <a:solidFill>
                  <a:srgbClr val="C0392B"/>
                </a:solidFill>
                <a:latin typeface="Calibri"/>
              </a:rPr>
              <a:t>[ Insert deployed link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